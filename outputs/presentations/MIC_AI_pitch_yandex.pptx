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92034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У автономной платформы фиксированный энергобюджет. Основной потребитель — электропривод, и именно он определяет запас хода. В реальности привод работает в переменных режимах: пуски, торможения, смена нагрузки. В этих режимах растут токи и потери, что напрямую снижает дальность и время работы. Наша задача — повысить эффективность без замены железа.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FOC — промышленный стандарт, он надежен и обеспечивает динамику. Мы его сохраняем. Но FOC настроен на фиксированные параметры, которые в эксплуатации уходят из‑за нагрева и старения. PI‑регуляторы решают локальную задачу по ошибке, но не оптимизируют энергию на горизонте времени. Отсюда — потери эффективности в реальных режимах.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Мы не заменяем FOC, а добавляем интеллектуальный слой сверху. FOC отвечает за устойчивость и безопасность в реальном времени. AI работает на ПК: наблюдает состояние, предлагает коррекции и учится в цифровом двойнике. Такой подход безопасен для железа и удобен для внедрения: базовый контроллер не трогаем.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PI‑контуры видят только текущую ошибку и не учитывают энергию на горизонте. При этом на практике важны сразу несколько целей: динамика, стабильность, экономия. AI может учиться на данных и искать баланс между скоростью и энергопотреблением, подстраиваясь под реальный профиль нагрузки и маршрута.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Если RMS‑токи ниже, падают I²R‑потери и нагрев. Это особенно важно вне номинала, где мобильные платформы работают большую часть времени. При этом динамика не страдает, потому что FOC остаётся базовым контуром. Мы улучшаем энергетику, не рискуя устойчивостью.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0">
                <a:latin typeface="Times New Roman"/>
              </a:rPr>
              <a:t>Проблема: энергобюджет ограничен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280160"/>
            <a:ext cx="7863840" cy="4389120"/>
          </a:xfrm>
        </p:spPr>
        <p:txBody>
          <a:bodyPr/>
          <a:lstStyle/>
          <a:p>
            <a:pPr>
              <a:defRPr sz="2000">
                <a:latin typeface="Times New Roman"/>
              </a:defRPr>
            </a:pPr>
            <a:r>
              <a:rPr dirty="0" err="1"/>
              <a:t>Электропривод</a:t>
            </a:r>
            <a:r>
              <a:rPr dirty="0"/>
              <a:t> — </a:t>
            </a:r>
            <a:r>
              <a:rPr dirty="0" err="1"/>
              <a:t>главный</a:t>
            </a:r>
            <a:r>
              <a:rPr dirty="0"/>
              <a:t> </a:t>
            </a:r>
            <a:r>
              <a:rPr dirty="0" err="1"/>
              <a:t>потребитель</a:t>
            </a:r>
            <a:r>
              <a:rPr dirty="0"/>
              <a:t> </a:t>
            </a:r>
            <a:r>
              <a:rPr dirty="0" err="1"/>
              <a:t>энергии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мобильных</a:t>
            </a:r>
            <a:r>
              <a:rPr dirty="0"/>
              <a:t> </a:t>
            </a:r>
            <a:r>
              <a:rPr dirty="0" err="1"/>
              <a:t>платформах</a:t>
            </a:r>
            <a:endParaRPr dirty="0"/>
          </a:p>
          <a:p>
            <a:pPr>
              <a:defRPr sz="2000">
                <a:latin typeface="Times New Roman"/>
              </a:defRPr>
            </a:pPr>
            <a:r>
              <a:rPr dirty="0" err="1"/>
              <a:t>Потери</a:t>
            </a:r>
            <a:r>
              <a:rPr dirty="0"/>
              <a:t> </a:t>
            </a:r>
            <a:r>
              <a:rPr dirty="0" err="1"/>
              <a:t>растут</a:t>
            </a:r>
            <a:r>
              <a:rPr dirty="0"/>
              <a:t> в </a:t>
            </a:r>
            <a:r>
              <a:rPr dirty="0" err="1"/>
              <a:t>неидеальных</a:t>
            </a:r>
            <a:r>
              <a:rPr dirty="0"/>
              <a:t> </a:t>
            </a:r>
            <a:r>
              <a:rPr dirty="0" err="1"/>
              <a:t>режимах</a:t>
            </a:r>
            <a:r>
              <a:rPr dirty="0"/>
              <a:t> (</a:t>
            </a:r>
            <a:r>
              <a:rPr dirty="0" err="1"/>
              <a:t>разгон</a:t>
            </a:r>
            <a:r>
              <a:rPr dirty="0"/>
              <a:t>, </a:t>
            </a:r>
            <a:r>
              <a:rPr dirty="0" err="1"/>
              <a:t>торможение</a:t>
            </a:r>
            <a:r>
              <a:rPr dirty="0"/>
              <a:t>, </a:t>
            </a:r>
            <a:r>
              <a:rPr dirty="0" err="1"/>
              <a:t>переменная</a:t>
            </a:r>
            <a:r>
              <a:rPr dirty="0"/>
              <a:t> </a:t>
            </a:r>
            <a:r>
              <a:rPr dirty="0" err="1"/>
              <a:t>нагрузка</a:t>
            </a:r>
            <a:r>
              <a:rPr dirty="0"/>
              <a:t>)</a:t>
            </a:r>
          </a:p>
          <a:p>
            <a:pPr>
              <a:defRPr sz="2000">
                <a:latin typeface="Times New Roman"/>
              </a:defRPr>
            </a:pPr>
            <a:r>
              <a:rPr dirty="0" err="1"/>
              <a:t>Энергия</a:t>
            </a:r>
            <a:r>
              <a:rPr dirty="0"/>
              <a:t> </a:t>
            </a:r>
            <a:r>
              <a:rPr dirty="0" err="1"/>
              <a:t>уходит</a:t>
            </a:r>
            <a:r>
              <a:rPr dirty="0"/>
              <a:t> в </a:t>
            </a:r>
            <a:r>
              <a:rPr dirty="0" err="1"/>
              <a:t>токи</a:t>
            </a:r>
            <a:r>
              <a:rPr dirty="0"/>
              <a:t> и </a:t>
            </a:r>
            <a:r>
              <a:rPr dirty="0" err="1"/>
              <a:t>нагрев</a:t>
            </a:r>
            <a:r>
              <a:rPr dirty="0"/>
              <a:t> </a:t>
            </a:r>
            <a:r>
              <a:rPr dirty="0" err="1"/>
              <a:t>вместо</a:t>
            </a:r>
            <a:r>
              <a:rPr dirty="0"/>
              <a:t> </a:t>
            </a:r>
            <a:r>
              <a:rPr dirty="0" err="1"/>
              <a:t>полезной</a:t>
            </a:r>
            <a:r>
              <a:rPr dirty="0"/>
              <a:t> </a:t>
            </a:r>
            <a:r>
              <a:rPr dirty="0" err="1"/>
              <a:t>работы</a:t>
            </a:r>
            <a:endParaRPr dirty="0"/>
          </a:p>
          <a:p>
            <a:pPr>
              <a:defRPr sz="2000">
                <a:latin typeface="Times New Roman"/>
              </a:defRPr>
            </a:pPr>
            <a:r>
              <a:rPr dirty="0" err="1"/>
              <a:t>Запас</a:t>
            </a:r>
            <a:r>
              <a:rPr dirty="0"/>
              <a:t> </a:t>
            </a:r>
            <a:r>
              <a:rPr dirty="0" err="1"/>
              <a:t>хода</a:t>
            </a:r>
            <a:r>
              <a:rPr dirty="0"/>
              <a:t> </a:t>
            </a:r>
            <a:r>
              <a:rPr dirty="0" err="1"/>
              <a:t>напрямую</a:t>
            </a:r>
            <a:r>
              <a:rPr dirty="0"/>
              <a:t> </a:t>
            </a:r>
            <a:r>
              <a:rPr dirty="0" err="1"/>
              <a:t>зависит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КПД </a:t>
            </a:r>
            <a:r>
              <a:rPr dirty="0" err="1"/>
              <a:t>привода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0">
                <a:latin typeface="Times New Roman"/>
              </a:rPr>
              <a:t>Классическое решение: FOC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280160"/>
            <a:ext cx="7863840" cy="4389120"/>
          </a:xfrm>
        </p:spPr>
        <p:txBody>
          <a:bodyPr/>
          <a:lstStyle/>
          <a:p>
            <a:pPr>
              <a:defRPr sz="2000">
                <a:latin typeface="Times New Roman"/>
              </a:defRPr>
            </a:pPr>
            <a:r>
              <a:t>FOC обеспечивает устойчивое управление моментом и скоростью</a:t>
            </a:r>
          </a:p>
          <a:p>
            <a:pPr>
              <a:defRPr sz="2000">
                <a:latin typeface="Times New Roman"/>
              </a:defRPr>
            </a:pPr>
            <a:r>
              <a:t>Настройка опирается на фиксированные параметры двигателя</a:t>
            </a:r>
          </a:p>
          <a:p>
            <a:pPr>
              <a:defRPr sz="2000">
                <a:latin typeface="Times New Roman"/>
              </a:defRPr>
            </a:pPr>
            <a:r>
              <a:t>Эффективность падает при нагреве, старении и разбросе параметров</a:t>
            </a:r>
          </a:p>
          <a:p>
            <a:pPr>
              <a:defRPr sz="2000">
                <a:latin typeface="Times New Roman"/>
              </a:defRPr>
            </a:pPr>
            <a:r>
              <a:t>PI‑контуры оптимальны локально, но не по энергии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7C74B37-22CD-E350-7BAB-8FE7151E07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400" y="3474720"/>
            <a:ext cx="5791200" cy="22783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0" dirty="0" err="1">
                <a:latin typeface="Times New Roman"/>
              </a:rPr>
              <a:t>Идея</a:t>
            </a:r>
            <a:r>
              <a:rPr sz="3200" b="0" dirty="0">
                <a:latin typeface="Times New Roman"/>
              </a:rPr>
              <a:t> MIC</a:t>
            </a:r>
            <a:r>
              <a:rPr lang="ru-RU" sz="3200" b="0" dirty="0">
                <a:latin typeface="Times New Roman"/>
              </a:rPr>
              <a:t> </a:t>
            </a:r>
            <a:r>
              <a:rPr sz="3200" b="0" dirty="0">
                <a:latin typeface="Times New Roman"/>
              </a:rPr>
              <a:t>AI: </a:t>
            </a:r>
            <a:r>
              <a:rPr sz="3200" b="0" dirty="0" err="1">
                <a:latin typeface="Times New Roman"/>
              </a:rPr>
              <a:t>адаптивная</a:t>
            </a:r>
            <a:r>
              <a:rPr sz="3200" b="0" dirty="0">
                <a:latin typeface="Times New Roman"/>
              </a:rPr>
              <a:t> </a:t>
            </a:r>
            <a:r>
              <a:rPr sz="3200" b="0" dirty="0" err="1">
                <a:latin typeface="Times New Roman"/>
              </a:rPr>
              <a:t>надстройка</a:t>
            </a:r>
            <a:endParaRPr sz="3200" b="0" dirty="0">
              <a:latin typeface="Times New Roman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280160"/>
            <a:ext cx="7863840" cy="4389120"/>
          </a:xfrm>
        </p:spPr>
        <p:txBody>
          <a:bodyPr/>
          <a:lstStyle/>
          <a:p>
            <a:pPr>
              <a:defRPr sz="2000">
                <a:latin typeface="Times New Roman"/>
              </a:defRPr>
            </a:pPr>
            <a:r>
              <a:t>FOC остаётся базовым контуром и защитами</a:t>
            </a:r>
          </a:p>
          <a:p>
            <a:pPr>
              <a:defRPr sz="2000">
                <a:latin typeface="Times New Roman"/>
              </a:defRPr>
            </a:pPr>
            <a:r>
              <a:t>AI корректирует режимы поверх FOC, не вмешиваясь в real‑time</a:t>
            </a:r>
          </a:p>
          <a:p>
            <a:pPr>
              <a:defRPr sz="2000">
                <a:latin typeface="Times New Roman"/>
              </a:defRPr>
            </a:pPr>
            <a:r>
              <a:t>Обучение в цифровом двойнике электропривода</a:t>
            </a:r>
          </a:p>
          <a:p>
            <a:pPr>
              <a:defRPr sz="2000">
                <a:latin typeface="Times New Roman"/>
              </a:defRPr>
            </a:pPr>
            <a:r>
              <a:t>Исполнение: AI на ПК, FOC на STM32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D8322BE-5F5A-D213-AE16-23C147251E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7746" y="2887427"/>
            <a:ext cx="5759450" cy="336423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0">
                <a:latin typeface="Times New Roman"/>
              </a:rPr>
              <a:t>Почему без AI не обойтись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280160"/>
            <a:ext cx="7863840" cy="4389120"/>
          </a:xfrm>
        </p:spPr>
        <p:txBody>
          <a:bodyPr/>
          <a:lstStyle/>
          <a:p>
            <a:pPr>
              <a:defRPr sz="2000">
                <a:latin typeface="Times New Roman"/>
              </a:defRPr>
            </a:pPr>
            <a:r>
              <a:rPr dirty="0"/>
              <a:t>PI‑</a:t>
            </a:r>
            <a:r>
              <a:rPr dirty="0" err="1"/>
              <a:t>регуляторы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учитывают</a:t>
            </a:r>
            <a:r>
              <a:rPr dirty="0"/>
              <a:t> </a:t>
            </a:r>
            <a:r>
              <a:rPr dirty="0" err="1"/>
              <a:t>долгосрочные</a:t>
            </a:r>
            <a:r>
              <a:rPr dirty="0"/>
              <a:t> </a:t>
            </a:r>
            <a:r>
              <a:rPr dirty="0" err="1"/>
              <a:t>потери</a:t>
            </a:r>
            <a:endParaRPr dirty="0"/>
          </a:p>
          <a:p>
            <a:pPr>
              <a:defRPr sz="2000">
                <a:latin typeface="Times New Roman"/>
              </a:defRPr>
            </a:pPr>
            <a:r>
              <a:rPr dirty="0" err="1"/>
              <a:t>Нет</a:t>
            </a:r>
            <a:r>
              <a:rPr dirty="0"/>
              <a:t> </a:t>
            </a:r>
            <a:r>
              <a:rPr dirty="0" err="1"/>
              <a:t>многокритериальной</a:t>
            </a:r>
            <a:r>
              <a:rPr dirty="0"/>
              <a:t> </a:t>
            </a:r>
            <a:r>
              <a:rPr dirty="0" err="1"/>
              <a:t>оптимизации</a:t>
            </a:r>
            <a:r>
              <a:rPr dirty="0"/>
              <a:t> (</a:t>
            </a:r>
            <a:r>
              <a:rPr dirty="0" err="1"/>
              <a:t>скорость</a:t>
            </a:r>
            <a:r>
              <a:rPr dirty="0"/>
              <a:t> + </a:t>
            </a:r>
            <a:r>
              <a:rPr dirty="0" err="1"/>
              <a:t>энергия</a:t>
            </a:r>
            <a:r>
              <a:rPr dirty="0"/>
              <a:t>)</a:t>
            </a:r>
          </a:p>
          <a:p>
            <a:pPr>
              <a:defRPr sz="2000">
                <a:latin typeface="Times New Roman"/>
              </a:defRPr>
            </a:pPr>
            <a:r>
              <a:rPr dirty="0" err="1"/>
              <a:t>Нужна</a:t>
            </a:r>
            <a:r>
              <a:rPr dirty="0"/>
              <a:t> </a:t>
            </a:r>
            <a:r>
              <a:rPr dirty="0" err="1"/>
              <a:t>адаптация</a:t>
            </a:r>
            <a:r>
              <a:rPr dirty="0"/>
              <a:t> к </a:t>
            </a:r>
            <a:r>
              <a:rPr dirty="0" err="1"/>
              <a:t>профилю</a:t>
            </a:r>
            <a:r>
              <a:rPr dirty="0"/>
              <a:t> </a:t>
            </a:r>
            <a:r>
              <a:rPr dirty="0" err="1"/>
              <a:t>движения</a:t>
            </a:r>
            <a:r>
              <a:rPr dirty="0"/>
              <a:t> и </a:t>
            </a:r>
            <a:r>
              <a:rPr dirty="0" err="1"/>
              <a:t>нагрузке</a:t>
            </a:r>
            <a:endParaRPr dirty="0"/>
          </a:p>
          <a:p>
            <a:pPr>
              <a:defRPr sz="2000">
                <a:latin typeface="Times New Roman"/>
              </a:defRPr>
            </a:pPr>
            <a:r>
              <a:rPr dirty="0"/>
              <a:t>AI </a:t>
            </a:r>
            <a:r>
              <a:rPr dirty="0" err="1"/>
              <a:t>способен</a:t>
            </a:r>
            <a:r>
              <a:rPr dirty="0"/>
              <a:t> </a:t>
            </a:r>
            <a:r>
              <a:rPr dirty="0" err="1"/>
              <a:t>учиться</a:t>
            </a:r>
            <a:r>
              <a:rPr dirty="0"/>
              <a:t> и </a:t>
            </a:r>
            <a:r>
              <a:rPr dirty="0" err="1"/>
              <a:t>улучшать</a:t>
            </a:r>
            <a:r>
              <a:rPr dirty="0"/>
              <a:t> </a:t>
            </a:r>
            <a:r>
              <a:rPr dirty="0" err="1"/>
              <a:t>режимы</a:t>
            </a:r>
            <a:r>
              <a:rPr dirty="0"/>
              <a:t> </a:t>
            </a:r>
            <a:r>
              <a:rPr dirty="0" err="1"/>
              <a:t>эксплуатации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0">
                <a:latin typeface="Times New Roman"/>
              </a:rPr>
              <a:t>Физика выигрыша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280160"/>
            <a:ext cx="4754880" cy="4206240"/>
          </a:xfrm>
        </p:spPr>
        <p:txBody>
          <a:bodyPr/>
          <a:lstStyle/>
          <a:p>
            <a:pPr>
              <a:defRPr sz="2000">
                <a:latin typeface="Times New Roman"/>
              </a:defRPr>
            </a:pPr>
            <a:r>
              <a:t>Снижение RMS‑токов статора</a:t>
            </a:r>
          </a:p>
          <a:p>
            <a:pPr>
              <a:defRPr sz="2000">
                <a:latin typeface="Times New Roman"/>
              </a:defRPr>
            </a:pPr>
            <a:r>
              <a:t>Меньше I²R‑потерь в меди</a:t>
            </a:r>
          </a:p>
          <a:p>
            <a:pPr>
              <a:defRPr sz="2000">
                <a:latin typeface="Times New Roman"/>
              </a:defRPr>
            </a:pPr>
            <a:r>
              <a:t>Повышение КПД вне номинальных режимов</a:t>
            </a:r>
          </a:p>
          <a:p>
            <a:pPr>
              <a:defRPr sz="2000">
                <a:latin typeface="Times New Roman"/>
              </a:defRPr>
            </a:pPr>
            <a:r>
              <a:t>Динамика сохраняется благодаря FOC</a:t>
            </a:r>
          </a:p>
        </p:txBody>
      </p:sp>
      <p:pic>
        <p:nvPicPr>
          <p:cNvPr id="4" name="Picture 3" descr="load_characterist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371600"/>
            <a:ext cx="3383279" cy="238406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370</TotalTime>
  <Words>437</Words>
  <Application>Microsoft Office PowerPoint</Application>
  <PresentationFormat>Экран (4:3)</PresentationFormat>
  <Paragraphs>30</Paragraphs>
  <Slides>5</Slides>
  <Notes>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9" baseType="lpstr">
      <vt:lpstr>Arial</vt:lpstr>
      <vt:lpstr>Calibri</vt:lpstr>
      <vt:lpstr>Times New Roman</vt:lpstr>
      <vt:lpstr>Office Theme</vt:lpstr>
      <vt:lpstr>Проблема: энергобюджет ограничен</vt:lpstr>
      <vt:lpstr>Классическое решение: FOC</vt:lpstr>
      <vt:lpstr>Идея MIC AI: адаптивная надстройка</vt:lpstr>
      <vt:lpstr>Почему без AI не обойтись</vt:lpstr>
      <vt:lpstr>Физика выигрыша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Андрей Андреев</cp:lastModifiedBy>
  <cp:revision>4</cp:revision>
  <dcterms:created xsi:type="dcterms:W3CDTF">2013-01-27T09:14:16Z</dcterms:created>
  <dcterms:modified xsi:type="dcterms:W3CDTF">2025-12-24T20:30:23Z</dcterms:modified>
  <cp:category/>
</cp:coreProperties>
</file>